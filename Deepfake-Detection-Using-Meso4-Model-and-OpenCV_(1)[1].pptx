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5" r:id="rId4"/>
    <p:sldId id="266" r:id="rId5"/>
    <p:sldId id="267" r:id="rId6"/>
    <p:sldId id="257" r:id="rId7"/>
    <p:sldId id="263" r:id="rId8"/>
    <p:sldId id="259" r:id="rId9"/>
    <p:sldId id="268" r:id="rId10"/>
    <p:sldId id="270" r:id="rId11"/>
    <p:sldId id="269" r:id="rId12"/>
    <p:sldId id="260" r:id="rId13"/>
    <p:sldId id="261" r:id="rId14"/>
    <p:sldId id="264" r:id="rId15"/>
    <p:sldId id="262" r:id="rId16"/>
  </p:sldIdLst>
  <p:sldSz cx="14630400" cy="8229600"/>
  <p:notesSz cx="8229600" cy="146304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" panose="020B0604020202020204" charset="0"/>
      <p:regular r:id="rId22"/>
    </p:embeddedFont>
    <p:embeddedFont>
      <p:font typeface="Roboto Medi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8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012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7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91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69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37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53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27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12878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2549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Deepfake Detection Using Meso4 Model and OpenCV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401264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Lightweight Machine Learning Approach for Identifying Manipulated Media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49936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[CodeCrackers]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0220" y="1088020"/>
            <a:ext cx="6554629" cy="736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oboto" panose="020B0604020202020204" charset="0"/>
                <a:ea typeface="Roboto" panose="020B0604020202020204" charset="0"/>
                <a:cs typeface="Roboto Medium" pitchFamily="34" charset="-120"/>
              </a:rPr>
              <a:t>Introduction</a:t>
            </a:r>
            <a:r>
              <a:rPr lang="en-US" sz="4450" b="1" dirty="0">
                <a:solidFill>
                  <a:srgbClr val="FFFFFF"/>
                </a:solidFill>
                <a:latin typeface="Roboto" panose="020B0604020202020204" charset="0"/>
                <a:ea typeface="Roboto" panose="020B0604020202020204" charset="0"/>
                <a:cs typeface="Roboto Medium" pitchFamily="34" charset="-120"/>
              </a:rPr>
              <a:t> to Deepfakes</a:t>
            </a:r>
            <a:endParaRPr lang="en-US" sz="4450" b="1" dirty="0">
              <a:latin typeface="Roboto" panose="020B0604020202020204" charset="0"/>
              <a:ea typeface="Roboto" panose="020B06040202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75" y="7613280"/>
            <a:ext cx="2578832" cy="5243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54" y="2718676"/>
            <a:ext cx="12280739" cy="92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86805" y="2826408"/>
            <a:ext cx="5694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What are </a:t>
            </a:r>
            <a:r>
              <a:rPr lang="en-US" sz="4000" b="1" dirty="0" err="1" smtClean="0">
                <a:solidFill>
                  <a:schemeClr val="bg1"/>
                </a:solidFill>
              </a:rPr>
              <a:t>deepfakes</a:t>
            </a:r>
            <a:r>
              <a:rPr lang="en-US" sz="4000" b="1" dirty="0" smtClean="0">
                <a:solidFill>
                  <a:schemeClr val="bg1"/>
                </a:solidFill>
              </a:rPr>
              <a:t> ?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54" y="4202345"/>
            <a:ext cx="12278408" cy="9266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42795" y="4352081"/>
            <a:ext cx="74259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Why are they dangerous?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54" y="5689336"/>
            <a:ext cx="12278408" cy="9266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42795" y="5839072"/>
            <a:ext cx="74259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Need for automated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62" y="1307939"/>
            <a:ext cx="6554629" cy="736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b="1" dirty="0">
                <a:solidFill>
                  <a:srgbClr val="FFFFFF"/>
                </a:solidFill>
                <a:latin typeface="Roboto" panose="020B0604020202020204" charset="0"/>
                <a:ea typeface="Roboto" panose="020B0604020202020204" charset="0"/>
                <a:cs typeface="Roboto Medium" pitchFamily="34" charset="-120"/>
              </a:rPr>
              <a:t>Why This Project?</a:t>
            </a:r>
            <a:endParaRPr lang="en-US" sz="4450" b="1" dirty="0">
              <a:latin typeface="Roboto" panose="020B0604020202020204" charset="0"/>
              <a:ea typeface="Roboto" panose="020B06040202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75" y="7613280"/>
            <a:ext cx="2578832" cy="524301"/>
          </a:xfrm>
          <a:prstGeom prst="rect">
            <a:avLst/>
          </a:prstGeom>
        </p:spPr>
      </p:pic>
      <p:sp>
        <p:nvSpPr>
          <p:cNvPr id="25" name="Shape 1"/>
          <p:cNvSpPr/>
          <p:nvPr/>
        </p:nvSpPr>
        <p:spPr>
          <a:xfrm>
            <a:off x="897962" y="2956246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6" name="Text 2"/>
          <p:cNvSpPr/>
          <p:nvPr/>
        </p:nvSpPr>
        <p:spPr>
          <a:xfrm>
            <a:off x="1655179" y="6190239"/>
            <a:ext cx="7469530" cy="51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Chosen due to its technical challenge and societal impact</a:t>
            </a:r>
            <a:endParaRPr lang="en-US" sz="1750" dirty="0"/>
          </a:p>
        </p:txBody>
      </p:sp>
      <p:sp>
        <p:nvSpPr>
          <p:cNvPr id="29" name="Shape 1"/>
          <p:cNvSpPr/>
          <p:nvPr/>
        </p:nvSpPr>
        <p:spPr>
          <a:xfrm>
            <a:off x="897962" y="4033391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0" name="Text 2"/>
          <p:cNvSpPr/>
          <p:nvPr/>
        </p:nvSpPr>
        <p:spPr>
          <a:xfrm>
            <a:off x="1693763" y="2987634"/>
            <a:ext cx="7430946" cy="50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smtClean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Meso4 combined with </a:t>
            </a:r>
            <a:r>
              <a:rPr lang="en-US" sz="1750" b="1" dirty="0" err="1" smtClean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</a:t>
            </a:r>
            <a:r>
              <a:rPr lang="en-US" sz="1750" b="1" dirty="0" smtClean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offers effective detection</a:t>
            </a:r>
            <a:r>
              <a:rPr lang="en-US" sz="1750" dirty="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31" name="Shape 1"/>
          <p:cNvSpPr/>
          <p:nvPr/>
        </p:nvSpPr>
        <p:spPr>
          <a:xfrm>
            <a:off x="866593" y="5110536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2" name="Text 2"/>
          <p:cNvSpPr/>
          <p:nvPr/>
        </p:nvSpPr>
        <p:spPr>
          <a:xfrm>
            <a:off x="1693763" y="4051258"/>
            <a:ext cx="7430946" cy="50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detection is no longer reliable</a:t>
            </a:r>
            <a:endParaRPr lang="en-US" sz="1750" dirty="0"/>
          </a:p>
        </p:txBody>
      </p:sp>
      <p:sp>
        <p:nvSpPr>
          <p:cNvPr id="33" name="Shape 1"/>
          <p:cNvSpPr/>
          <p:nvPr/>
        </p:nvSpPr>
        <p:spPr>
          <a:xfrm>
            <a:off x="897962" y="6187681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4" name="Text 2"/>
          <p:cNvSpPr/>
          <p:nvPr/>
        </p:nvSpPr>
        <p:spPr>
          <a:xfrm>
            <a:off x="1674471" y="5110536"/>
            <a:ext cx="7469530" cy="51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Relevance in </a:t>
            </a:r>
            <a:r>
              <a:rPr lang="en-US" sz="1750" b="1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cybersecurity</a:t>
            </a: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media integrity</a:t>
            </a:r>
            <a:endParaRPr lang="en-US" sz="17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709" y="1087594"/>
            <a:ext cx="4913802" cy="63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5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62" y="1307939"/>
            <a:ext cx="6554629" cy="736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b="1" dirty="0">
                <a:solidFill>
                  <a:srgbClr val="FFFFFF"/>
                </a:solidFill>
                <a:latin typeface="Roboto" panose="020B0604020202020204" charset="0"/>
                <a:ea typeface="Roboto" panose="020B0604020202020204" charset="0"/>
                <a:cs typeface="Roboto Medium" pitchFamily="34" charset="-120"/>
              </a:rPr>
              <a:t>What the Market Wants</a:t>
            </a:r>
            <a:endParaRPr lang="en-US" sz="4450" b="1" dirty="0">
              <a:latin typeface="Roboto" panose="020B0604020202020204" charset="0"/>
              <a:ea typeface="Roboto" panose="020B06040202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75" y="7613280"/>
            <a:ext cx="2578832" cy="524301"/>
          </a:xfrm>
          <a:prstGeom prst="rect">
            <a:avLst/>
          </a:prstGeom>
        </p:spPr>
      </p:pic>
      <p:sp>
        <p:nvSpPr>
          <p:cNvPr id="25" name="Shape 1"/>
          <p:cNvSpPr/>
          <p:nvPr/>
        </p:nvSpPr>
        <p:spPr>
          <a:xfrm>
            <a:off x="897962" y="2956246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6" name="Text 2"/>
          <p:cNvSpPr/>
          <p:nvPr/>
        </p:nvSpPr>
        <p:spPr>
          <a:xfrm>
            <a:off x="1655179" y="6190239"/>
            <a:ext cx="7469530" cy="51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Tools usable by investigators and journalists</a:t>
            </a:r>
            <a:endParaRPr lang="en-US" sz="1750" dirty="0"/>
          </a:p>
        </p:txBody>
      </p:sp>
      <p:sp>
        <p:nvSpPr>
          <p:cNvPr id="29" name="Shape 1"/>
          <p:cNvSpPr/>
          <p:nvPr/>
        </p:nvSpPr>
        <p:spPr>
          <a:xfrm>
            <a:off x="897962" y="4033391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0" name="Text 2"/>
          <p:cNvSpPr/>
          <p:nvPr/>
        </p:nvSpPr>
        <p:spPr>
          <a:xfrm>
            <a:off x="1693763" y="2987634"/>
            <a:ext cx="7430946" cy="50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Lightweight, fast AI models</a:t>
            </a:r>
            <a:endParaRPr lang="en-US" sz="1750" dirty="0"/>
          </a:p>
        </p:txBody>
      </p:sp>
      <p:sp>
        <p:nvSpPr>
          <p:cNvPr id="31" name="Shape 1"/>
          <p:cNvSpPr/>
          <p:nvPr/>
        </p:nvSpPr>
        <p:spPr>
          <a:xfrm>
            <a:off x="866593" y="5110536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2" name="Text 2"/>
          <p:cNvSpPr/>
          <p:nvPr/>
        </p:nvSpPr>
        <p:spPr>
          <a:xfrm>
            <a:off x="1693763" y="4051258"/>
            <a:ext cx="7430946" cy="50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image/video authentication</a:t>
            </a:r>
            <a:endParaRPr lang="en-US" sz="1750" dirty="0"/>
          </a:p>
        </p:txBody>
      </p:sp>
      <p:sp>
        <p:nvSpPr>
          <p:cNvPr id="33" name="Shape 1"/>
          <p:cNvSpPr/>
          <p:nvPr/>
        </p:nvSpPr>
        <p:spPr>
          <a:xfrm>
            <a:off x="897962" y="6187681"/>
            <a:ext cx="409977" cy="4366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34" name="Text 2"/>
          <p:cNvSpPr/>
          <p:nvPr/>
        </p:nvSpPr>
        <p:spPr>
          <a:xfrm>
            <a:off x="1674471" y="5110536"/>
            <a:ext cx="7469530" cy="51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tools for social media platforms</a:t>
            </a:r>
            <a:endParaRPr lang="en-US" sz="17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929" y="734899"/>
            <a:ext cx="5879939" cy="687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7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5967" y="872717"/>
            <a:ext cx="6554629" cy="736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b="1" dirty="0">
                <a:solidFill>
                  <a:srgbClr val="FFFFFF"/>
                </a:solidFill>
                <a:latin typeface="Roboto" panose="020B0604020202020204" charset="0"/>
                <a:ea typeface="Roboto" panose="020B0604020202020204" charset="0"/>
                <a:cs typeface="Roboto Medium" pitchFamily="34" charset="-120"/>
              </a:rPr>
              <a:t> Problem Statement</a:t>
            </a:r>
            <a:endParaRPr lang="en-US" sz="4450" b="1" dirty="0">
              <a:latin typeface="Roboto" panose="020B0604020202020204" charset="0"/>
              <a:ea typeface="Roboto" panose="020B06040202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75" y="7613280"/>
            <a:ext cx="2578832" cy="5243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54" y="2257001"/>
            <a:ext cx="12280739" cy="92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68638" y="2364733"/>
            <a:ext cx="99773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Deepfakes</a:t>
            </a:r>
            <a:r>
              <a:rPr lang="en-US" sz="4000" b="1" dirty="0">
                <a:solidFill>
                  <a:schemeClr val="bg1"/>
                </a:solidFill>
              </a:rPr>
              <a:t> are hard to detect manually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54" y="3740670"/>
            <a:ext cx="12278408" cy="9266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68638" y="3890406"/>
            <a:ext cx="900008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Existing tools are resource-intensive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54" y="5227660"/>
            <a:ext cx="12278408" cy="157956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268638" y="5377397"/>
            <a:ext cx="90000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Need for </a:t>
            </a:r>
            <a:r>
              <a:rPr lang="en-US" sz="4000" b="1" dirty="0" err="1">
                <a:solidFill>
                  <a:schemeClr val="bg1"/>
                </a:solidFill>
              </a:rPr>
              <a:t>autoExisting</a:t>
            </a:r>
            <a:r>
              <a:rPr lang="en-US" sz="4000" b="1" dirty="0">
                <a:solidFill>
                  <a:schemeClr val="bg1"/>
                </a:solidFill>
              </a:rPr>
              <a:t> tools are resource-</a:t>
            </a:r>
            <a:r>
              <a:rPr lang="en-US" sz="4000" b="1" dirty="0" err="1">
                <a:solidFill>
                  <a:schemeClr val="bg1"/>
                </a:solidFill>
              </a:rPr>
              <a:t>intensivemated</a:t>
            </a:r>
            <a:r>
              <a:rPr lang="en-US" sz="4000" b="1" dirty="0">
                <a:solidFill>
                  <a:schemeClr val="bg1"/>
                </a:solidFill>
              </a:rPr>
              <a:t> detection</a:t>
            </a:r>
          </a:p>
        </p:txBody>
      </p:sp>
    </p:spTree>
    <p:extLst>
      <p:ext uri="{BB962C8B-B14F-4D97-AF65-F5344CB8AC3E}">
        <p14:creationId xmlns:p14="http://schemas.microsoft.com/office/powerpoint/2010/main" val="357307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58146"/>
            <a:ext cx="7556421" cy="69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045756" y="2690800"/>
            <a:ext cx="7556421" cy="4272381"/>
          </a:xfrm>
          <a:prstGeom prst="roundRect">
            <a:avLst>
              <a:gd name="adj" fmla="val 539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359" y="3455021"/>
            <a:ext cx="7087553" cy="41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CNN-based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classifier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67024" y="482699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image processing</a:t>
            </a:r>
            <a:endParaRPr lang="en-US" sz="17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217" y="7596306"/>
            <a:ext cx="2581183" cy="524519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6667024" y="4170455"/>
            <a:ext cx="7087553" cy="41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Meso4 for feature detection</a:t>
            </a:r>
            <a:endParaRPr lang="en-US" sz="1750" dirty="0"/>
          </a:p>
        </p:txBody>
      </p:sp>
      <p:sp>
        <p:nvSpPr>
          <p:cNvPr id="16" name="Text 3"/>
          <p:cNvSpPr/>
          <p:nvPr/>
        </p:nvSpPr>
        <p:spPr>
          <a:xfrm>
            <a:off x="6667023" y="5569941"/>
            <a:ext cx="7087553" cy="41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real/fake label with confidence score</a:t>
            </a:r>
            <a:endParaRPr lang="en-US" sz="17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20942" r="20389"/>
          <a:stretch/>
        </p:blipFill>
        <p:spPr>
          <a:xfrm>
            <a:off x="170371" y="970663"/>
            <a:ext cx="5441783" cy="72263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349573"/>
            <a:ext cx="70737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 Used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398514"/>
            <a:ext cx="3664863" cy="2490192"/>
          </a:xfrm>
          <a:prstGeom prst="roundRect">
            <a:avLst>
              <a:gd name="adj" fmla="val 382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28224" y="3312040"/>
            <a:ext cx="3195995" cy="1342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used the DFDC dataset published by Facebook and others.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588163" y="2394704"/>
            <a:ext cx="3664863" cy="2490192"/>
          </a:xfrm>
          <a:prstGeom prst="roundRect">
            <a:avLst>
              <a:gd name="adj" fmla="val 3826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16747" y="2716692"/>
            <a:ext cx="2846712" cy="38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➤ DFDC Dataset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822596" y="3296901"/>
            <a:ext cx="3195995" cy="139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includes videos generated using AI and the real counterparts.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115520"/>
            <a:ext cx="7556421" cy="2662667"/>
          </a:xfrm>
          <a:prstGeom prst="roundRect">
            <a:avLst>
              <a:gd name="adj" fmla="val 539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8224" y="5349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➤ Frame extraction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028224" y="584037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video was split into 20–30 image frames using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7" name="Text 6"/>
          <p:cNvSpPr/>
          <p:nvPr/>
        </p:nvSpPr>
        <p:spPr>
          <a:xfrm>
            <a:off x="4768597" y="2716692"/>
            <a:ext cx="2846712" cy="38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➤ Real + Fake videos      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1016748" y="6528122"/>
            <a:ext cx="2999112" cy="400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➤ 50 GB processed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1016748" y="6928129"/>
            <a:ext cx="7099030" cy="78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 to size constraints, we used a representative sample—enough </a:t>
            </a:r>
            <a:endParaRPr lang="en-US" sz="1750" dirty="0" smtClean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the model.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7949" y="3450641"/>
            <a:ext cx="96771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Meso4 Architecture</a:t>
            </a:r>
            <a:endParaRPr lang="en-US" sz="44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930" y="7587522"/>
            <a:ext cx="2578832" cy="5243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t="16143" b="65928"/>
          <a:stretch/>
        </p:blipFill>
        <p:spPr>
          <a:xfrm>
            <a:off x="0" y="96700"/>
            <a:ext cx="14630400" cy="2742638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737949" y="44078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convolutional layers + 2 dense layers</a:t>
            </a:r>
            <a:endParaRPr lang="en-US" sz="2400" dirty="0"/>
          </a:p>
        </p:txBody>
      </p:sp>
      <p:sp>
        <p:nvSpPr>
          <p:cNvPr id="20" name="Text 2"/>
          <p:cNvSpPr/>
          <p:nvPr/>
        </p:nvSpPr>
        <p:spPr>
          <a:xfrm>
            <a:off x="737949" y="51774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</a:t>
            </a: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ReLU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BatchNorm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Dropout</a:t>
            </a:r>
            <a:endParaRPr lang="en-US" sz="2400" dirty="0"/>
          </a:p>
        </p:txBody>
      </p:sp>
      <p:sp>
        <p:nvSpPr>
          <p:cNvPr id="21" name="Text 3"/>
          <p:cNvSpPr/>
          <p:nvPr/>
        </p:nvSpPr>
        <p:spPr>
          <a:xfrm>
            <a:off x="698346" y="5825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Ends with Sigmoid activation</a:t>
            </a:r>
            <a:endParaRPr lang="en-US" sz="2400" dirty="0"/>
          </a:p>
        </p:txBody>
      </p:sp>
      <p:sp>
        <p:nvSpPr>
          <p:cNvPr id="22" name="Text 4"/>
          <p:cNvSpPr/>
          <p:nvPr/>
        </p:nvSpPr>
        <p:spPr>
          <a:xfrm>
            <a:off x="698345" y="65338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</a:t>
            </a: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mesoscopic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feature analysis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52463" y="669702"/>
            <a:ext cx="9677162" cy="772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System Workflow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06700" y="22673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30906" y="2345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Input: Image or Video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432873" y="503526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frame is passed through the model for prediction.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695758" y="21895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32873" y="2267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smtClean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Frame </a:t>
            </a: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extraction with </a:t>
            </a:r>
            <a:r>
              <a:rPr lang="en-US" sz="220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OpenCV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11229" y="298657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videos, we extract several frames using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06700" y="425631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14206" y="4387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Preprocessing (resize, normalize)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514206" y="5035269"/>
            <a:ext cx="40752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image is resized to 256x256 and normalized (pixel values scaled to 0–1).</a:t>
            </a:r>
            <a:endParaRPr lang="en-US" sz="17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930" y="7587522"/>
            <a:ext cx="2578832" cy="524301"/>
          </a:xfrm>
          <a:prstGeom prst="rect">
            <a:avLst/>
          </a:prstGeom>
        </p:spPr>
      </p:pic>
      <p:sp>
        <p:nvSpPr>
          <p:cNvPr id="16" name="Shape 4"/>
          <p:cNvSpPr/>
          <p:nvPr/>
        </p:nvSpPr>
        <p:spPr>
          <a:xfrm>
            <a:off x="7492451" y="430984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8411229" y="4412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Meso4 model prediction</a:t>
            </a:r>
            <a:endParaRPr lang="en-US" sz="2200" dirty="0"/>
          </a:p>
        </p:txBody>
      </p:sp>
      <p:sp>
        <p:nvSpPr>
          <p:cNvPr id="18" name="Shape 4"/>
          <p:cNvSpPr/>
          <p:nvPr/>
        </p:nvSpPr>
        <p:spPr>
          <a:xfrm>
            <a:off x="3920101" y="63841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4657216" y="6462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Output: Real or Fake + confidence</a:t>
            </a:r>
            <a:endParaRPr lang="en-US" sz="2200" dirty="0"/>
          </a:p>
        </p:txBody>
      </p:sp>
      <p:sp>
        <p:nvSpPr>
          <p:cNvPr id="20" name="Text 3"/>
          <p:cNvSpPr/>
          <p:nvPr/>
        </p:nvSpPr>
        <p:spPr>
          <a:xfrm>
            <a:off x="1683306" y="313664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user can provide an image or a video file.</a:t>
            </a:r>
            <a:endParaRPr lang="en-US" sz="1750" dirty="0"/>
          </a:p>
        </p:txBody>
      </p:sp>
      <p:sp>
        <p:nvSpPr>
          <p:cNvPr id="21" name="Text 3"/>
          <p:cNvSpPr/>
          <p:nvPr/>
        </p:nvSpPr>
        <p:spPr>
          <a:xfrm>
            <a:off x="4435640" y="7154423"/>
            <a:ext cx="72841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shows if the image is REAL or FAKE, along with a confidence percentage.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53109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461" y="1747779"/>
            <a:ext cx="7010807" cy="149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6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Future Scope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72997" y="40128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real-time webcam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2997" y="478248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GUI or web version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3394" y="54301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3393" y="61388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3392" y="68474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</a:t>
            </a: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Colab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training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568" y="7651196"/>
            <a:ext cx="2578832" cy="524301"/>
          </a:xfrm>
          <a:prstGeom prst="rect">
            <a:avLst/>
          </a:prstGeom>
        </p:spPr>
      </p:pic>
      <p:pic>
        <p:nvPicPr>
          <p:cNvPr id="2050" name="Picture 2" descr="https://sdmntprwestus2.oaiusercontent.com/files/00000000-9d0c-61f8-aaf1-7cc23055fbee/raw?se=2025-05-12T11%3A04%3A47Z&amp;sp=r&amp;sv=2024-08-04&amp;sr=b&amp;scid=00000000-0000-0000-0000-000000000000&amp;skoid=61180a4f-34a9-42b7-b76d-9ca47d89946d&amp;sktid=a48cca56-e6da-484e-a814-9c849652bcb3&amp;skt=2025-05-12T09%3A19%3A03Z&amp;ske=2025-05-13T09%3A19%3A03Z&amp;sks=b&amp;skv=2024-08-04&amp;sig=7ADLgtsVzoIhuMJLk1OZkSn3vB5BF3KEi1WDBrK6kRU%3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641" y="891250"/>
            <a:ext cx="7172835" cy="717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54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392" y="1493873"/>
            <a:ext cx="7010807" cy="107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6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Sample Output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33392" y="373504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real-time webcam support 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3392" y="45046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FAKE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89" y="51523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Confidence: 91.7%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88" y="58610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Frame-wise consistency maintained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568" y="7651196"/>
            <a:ext cx="2578832" cy="524301"/>
          </a:xfrm>
          <a:prstGeom prst="rect">
            <a:avLst/>
          </a:prstGeom>
        </p:spPr>
      </p:pic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547" y="935465"/>
            <a:ext cx="4919305" cy="632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34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0074"/>
            <a:ext cx="80952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Challenges Faced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89" y="34663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imbalance (more real than fake samples)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41476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Poor-quality images reduced accuracy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568" y="7666233"/>
            <a:ext cx="2578832" cy="524301"/>
          </a:xfrm>
          <a:prstGeom prst="rect">
            <a:avLst/>
          </a:prstGeom>
        </p:spPr>
      </p:pic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088" y="-430294"/>
            <a:ext cx="5486400" cy="82296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93790" y="57165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issues on large videos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793790" y="48976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Avoiding </a:t>
            </a:r>
            <a:r>
              <a:rPr lang="en-US" sz="2400" dirty="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fitting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1661" y="952321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194554"/>
            <a:ext cx="7556421" cy="98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6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Future Scope</a:t>
            </a:r>
            <a:endParaRPr lang="en-US" sz="6600" b="1" dirty="0"/>
          </a:p>
        </p:txBody>
      </p:sp>
      <p:sp>
        <p:nvSpPr>
          <p:cNvPr id="14" name="Text 1"/>
          <p:cNvSpPr/>
          <p:nvPr/>
        </p:nvSpPr>
        <p:spPr>
          <a:xfrm>
            <a:off x="793790" y="37518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GUI or web version</a:t>
            </a:r>
            <a:endParaRPr lang="en-US" sz="2400" dirty="0"/>
          </a:p>
        </p:txBody>
      </p:sp>
      <p:sp>
        <p:nvSpPr>
          <p:cNvPr id="15" name="Text 1"/>
          <p:cNvSpPr/>
          <p:nvPr/>
        </p:nvSpPr>
        <p:spPr>
          <a:xfrm>
            <a:off x="793789" y="2927548"/>
            <a:ext cx="6244709" cy="40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real-time webcam support</a:t>
            </a:r>
            <a:endParaRPr lang="en-US" sz="2400" dirty="0"/>
          </a:p>
        </p:txBody>
      </p:sp>
      <p:sp>
        <p:nvSpPr>
          <p:cNvPr id="16" name="Text 1"/>
          <p:cNvSpPr/>
          <p:nvPr/>
        </p:nvSpPr>
        <p:spPr>
          <a:xfrm>
            <a:off x="797691" y="44767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facial landmarks (</a:t>
            </a: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Dlib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2400" dirty="0"/>
          </a:p>
        </p:txBody>
      </p:sp>
      <p:sp>
        <p:nvSpPr>
          <p:cNvPr id="17" name="Text 1"/>
          <p:cNvSpPr/>
          <p:nvPr/>
        </p:nvSpPr>
        <p:spPr>
          <a:xfrm>
            <a:off x="797691" y="5201518"/>
            <a:ext cx="6244709" cy="325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on larger, more diverse datasets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0479" y="1954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</a:t>
            </a:r>
            <a:endParaRPr lang="en-US" sz="6600" b="1" dirty="0"/>
          </a:p>
        </p:txBody>
      </p:sp>
      <p:sp>
        <p:nvSpPr>
          <p:cNvPr id="3" name="Shape 1"/>
          <p:cNvSpPr/>
          <p:nvPr/>
        </p:nvSpPr>
        <p:spPr>
          <a:xfrm>
            <a:off x="793790" y="366962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3743325"/>
            <a:ext cx="41638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Deepfakes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a </a:t>
            </a:r>
            <a:r>
              <a:rPr lang="en-US" sz="2400" dirty="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serious digital 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54060" y="36663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34243" y="356187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Meso4 + </a:t>
            </a:r>
            <a:r>
              <a:rPr lang="en-US" sz="240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practical solution.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0906" y="4996458"/>
            <a:ext cx="5642610" cy="111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model is lightweight, fast, </a:t>
            </a:r>
            <a:endParaRPr lang="en-US" sz="2400" dirty="0" smtClean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2400" dirty="0" smtClean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</a:t>
            </a: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54060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4119" y="499645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to be expanded for real-world use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568" y="7699592"/>
            <a:ext cx="2578832" cy="5243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568" y="7651196"/>
            <a:ext cx="2578832" cy="5243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904" y="2419109"/>
            <a:ext cx="10984373" cy="47687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445</Words>
  <Application>Microsoft Office PowerPoint</Application>
  <PresentationFormat>Custom</PresentationFormat>
  <Paragraphs>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22</cp:revision>
  <dcterms:created xsi:type="dcterms:W3CDTF">2025-05-12T03:42:12Z</dcterms:created>
  <dcterms:modified xsi:type="dcterms:W3CDTF">2025-05-12T12:45:42Z</dcterms:modified>
</cp:coreProperties>
</file>